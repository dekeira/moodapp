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DM Sans Semi Bold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81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2:04.1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2:11.0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2:16.4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2:22.7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6:25.0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00:42.0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80 1 24575,'0'5'0,"-4"2"0,-3 4 0,-4 0 0,0 4 0,1 3 0,-2-1 0,1 2 0,-3-3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07:03.5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08:52.7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6:31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6:37.7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16:41.4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22:30:30.3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676 488 24575,'-49'-8'0,"28"-4"0,20 12 0,1-1 0,0 0 0,0 1 0,-1-1 0,1 0 0,0 1 0,0-1 0,0 1 0,0-1 0,0 0 0,0 1 0,0-1 0,0 0 0,0 1 0,0-1 0,0 0 0,0 1 0,0-1 0,1 0 0,-1 1 0,0-1 0,0 1 0,1-1 0,-1 0 0,0 1 0,1-1 0,-1 1 0,1-1 0,-1 1 0,1-1 0,-1 1 0,1-1 0,5-2 0,0-1 0,1 1 0,-1 0 0,1 1 0,-1-1 0,1 1 0,0 1 0,0-1 0,0 1 0,0 0 0,13 1 0,24-6 0,126-27 0,-109 21 0,-28 6 0,0-1 0,46-17 0,-43 13 0,1 1 0,53-8 0,9-1 0,119-45 0,-190 58 0,58-7 0,-13 3 0,213-41 0,-221 34 0,-37 9 0,0 1 0,0 2 0,51-4 0,-49 8 0,-1 0 0,1-2 0,36-8 0,-20 3 0,0 3 0,1 1 0,0 3 0,50 5 0,8-2 0,24-4 0,140 5 0,-267-3 0,0 0 0,0 0 0,0 1 0,0-1 0,0 0 0,0 1 0,0-1 0,0 1 0,-1-1 0,1 1 0,0 0 0,0 0 0,-1 0 0,3 2 0,-3-3 0,-1 1 0,0-1 0,0 1 0,0-1 0,0 1 0,1-1 0,-1 1 0,0-1 0,0 1 0,0-1 0,0 1 0,0-1 0,0 1 0,0-1 0,0 1 0,-1-1 0,1 1 0,0-1 0,0 1 0,0-1 0,-1 1 0,1-1 0,0 1 0,0-1 0,-1 1 0,1-1 0,0 0 0,-1 1 0,1-1 0,0 0 0,-1 1 0,0-1 0,-3 4 0,0-1 0,-1 0 0,1 0 0,-1-1 0,0 0 0,1 0 0,-1 0 0,0 0 0,-7 1 0,-47 11 0,35-8 0,-1 0 0,-42 3 0,-105 18 0,140-23 0,0 1 0,-55 16 0,58-13 0,0-1 0,0-1 0,-51 3 0,-68 4 0,-8 1 0,-26 1 0,-13-1 0,-689-15 0,835 4 0,0 2 0,-73 16 0,71-10 0,-1-3 0,-54 2 0,85-8 0,1 0 0,-28 8 0,-33 3 0,-68 5 0,70-6 0,-81 15 0,362-29 0,-97 4 0,-63-1 0,1 1 0,71 13 0,-51-6 0,1-4 0,1-2 0,75-6 0,-16 0 0,1040 4 0,-1219 11 0,3 1 0,22-9 0,0 2 0,-40 14 0,45-12 0,0-2 0,0 0 0,0-1 0,-33 1 0,21-4 0,-44 9 0,-25 2 0,-15 2 0,82-8 0,-64 2 0,-39-12 0,-115 6 0,243-1 0,-1 1 0,1 0 0,0 2 0,-26 10 0,27-9 0,0-1 0,0-1 0,-1 0 0,1 0 0,-23 2 0,32-6 0,-50 7 0,52-7 0,0 0 0,0 0 0,0 1 0,0-1 0,0 1 0,0 0 0,0-1 0,0 1 0,0 0 0,0 0 0,1 0 0,-1 1 0,0-1 0,1 0 0,-1 0 0,1 1 0,-1-1 0,1 1 0,0 0 0,0-1 0,-1 1 0,0 2 0,2-3 0,0 0 0,1 0 0,-1 0 0,0 0 0,1 0 0,-1-1 0,0 1 0,1 0 0,-1 0 0,1 0 0,-1-1 0,1 1 0,-1 0 0,1-1 0,0 1 0,-1 0 0,1-1 0,0 1 0,-1-1 0,1 1 0,0-1 0,0 1 0,0-1 0,-1 0 0,1 1 0,0-1 0,0 0 0,0 0 0,0 1 0,0-1 0,0 0 0,1 0 0,36 5 0,-36-5 0,14 1 0,13 0 0,0 1 0,0 2 0,0 1 0,0 1 0,37 13 0,-48-13 0,1-2 0,-1 0 0,1-1 0,-1-1 0,1-1 0,0 0 0,20-3 0,-17 1 0,0 1 0,0 1 0,0 0 0,34 9 0,137 25 0,-146-28 0,0-1 0,0-3 0,0-2 0,48-5 0,12 2 0,-53 2 0,8 1 0,-1-3 0,104-15 0,-107 12 0,-48 5 0,0 0 0,-1-1 0,1 0 0,-1 0 0,0-1 0,1 0 0,-1-1 0,0 1 0,0-2 0,10-5 0,-19 9 0,0 0 0,0 0 0,0-1 0,0 1 0,0 0 0,0 0 0,0-1 0,0 1 0,0 0 0,0 0 0,0-1 0,0 1 0,0 0 0,0 0 0,0-1 0,0 1 0,0 0 0,-1 0 0,1 0 0,0-1 0,0 1 0,0 0 0,0 0 0,0-1 0,-1 1 0,1 0 0,0 0 0,0 0 0,0 0 0,-1-1 0,1 1 0,0 0 0,0 0 0,0 0 0,-1 0 0,1 0 0,0 0 0,0 0 0,-1 0 0,1 0 0,0 0 0,0 0 0,-1 0 0,1 0 0,0 0 0,0 0 0,-1 0 0,1 0 0,0 0 0,0 0 0,-1 0 0,1 0 0,0 0 0,-1 0 0,-17-2 0,-65-3 0,-124 10 0,131 9 0,55-9 0,-1-1 0,-29 1 0,-6-2 0,0 3 0,1 2 0,-95 27 0,125-26 0,-1-2 0,1-1 0,-1-1 0,-1-1 0,-30 0 0,16-2 0,-65 12 0,27-2 0,49-7 0,0 1 0,1 1 0,0 1 0,1 2 0,-41 19 0,57-24 0,-1 0 0,1-1 0,-1-1 0,-21 2 0,22-3 0,-1 0 0,0 1 0,1 1 0,-17 6 0,75-4 0,-13-5 0,0-1 0,0-2 0,0-1 0,0-2 0,-1-1 0,62-20 0,-56 15 0,0 1 0,1 2 0,0 1 0,0 2 0,39 0 0,-28 3 0,7 0 0,69-11 0,30-16 0,-126 24 0,0 1 0,1 2 0,0 1 0,32 3 0,59-3 0,-49-13 0,-56 9 0,1 2 0,32-4 0,-43 7 0,0 0 0,-1 1 0,1-1 0,0 1 0,0 0 0,0 1 0,-1-1 0,1 1 0,-1 0 0,1 0 0,-1 1 0,7 4 0,-2-1 0,1 0 0,0-1 0,-1-1 0,1 0 0,1 0 0,-1-1 0,1 0 0,-1-1 0,16 1 0,16-2 0,53-3 0,-23-1 0,811 3 0,-859 1 0,0 2 0,43 10 0,-15-2 0,7 2 0,-37-8 0,0 0 0,42 2 0,118-10 0,91 6 0,-197 10 0,-56-8 0,0-1 0,31 2 0,-21-5 0,0-1 0,0-1 0,0-2 0,0-1 0,49-13 0,-77 16 0,0 0 0,0 0 0,0 0 0,0-1 0,-1 0 0,1 1 0,0-1 0,-1 0 0,1-1 0,-1 1 0,0 0 0,1 0 0,-1-1 0,0 0 0,-1 1 0,1-1 0,0 0 0,-1 0 0,0 0 0,1 0 0,-1 0 0,0 0 0,1-6 0,0-7 0,-1 0 0,0 0 0,-2-31 0,0 33 0,0 0 0,1-1 0,3-16 0,42-180 0,-43 202 0,-1 1 0,0 0 0,0 0 0,0-1 0,-1 1 0,-1 0 0,0-1 0,0 1 0,-2-9 0,1 13 0,0 0 0,0 0 0,0 1 0,0-1 0,-1 0 0,1 1 0,-1 0 0,0-1 0,0 1 0,0 0 0,0 1 0,-1-1 0,1 0 0,-1 1 0,0 0 0,0 0 0,0 0 0,0 0 0,-4-1 0,-65-9 0,62 10 0,44 2 0,10 0 0,-28-1 0,1 1 0,-1 0 0,0 1 0,1 0 0,-1 1 0,0 1 0,0 1 0,0 0 0,-1 1 0,25 11 0,3 5 0,-35-18 0,-1-1 0,1 1 0,-1 1 0,1-1 0,-1 1 0,0 0 0,0 0 0,-1 1 0,1 0 0,-1 0 0,0 0 0,-1 0 0,1 1 0,-1 0 0,0 0 0,0 0 0,4 10 0,45 73 0,-45-71 0,8 17 0,12 41 0,-24-63 0,-1 1 0,0-1 0,-1 0 0,-1 0 0,0 1 0,-2 26 0,0-36 0,-1 1 0,1-1 0,-1 1 0,0-1 0,0 0 0,-1 0 0,1 0 0,-1 0 0,0 0 0,0-1 0,0 1 0,-1-1 0,1 0 0,-1 0 0,1 0 0,-1 0 0,-5 2 0,3-1 0,0 0 0,0-1 0,0 0 0,-1 0 0,1 0 0,-1-1 0,0 0 0,0 0 0,0-1 0,-13 1 0,18-2 0,0 0 0,0-1 0,1 1 0,-1-1 0,0 0 0,0 1 0,1-1 0,-1 0 0,1 0 0,-1 0 0,1 0 0,-1-1 0,1 1 0,0 0 0,-1 0 0,1-1 0,0 1 0,0-1 0,0 1 0,0-1 0,0 0 0,1 1 0,-1-1 0,0 0 0,1 1 0,-1-1 0,1 0 0,-1 0 0,1 0 0,0-2 0,-2-64 0,2 56 0,4-67 0,0-51 0,-4 114 0,-1 0 0,-1 0 0,-1 0 0,0 0 0,-9-26 0,4 21 0,-11-26 0,-33-64 0,44 99 0,0 1 0,-1 0 0,0 1 0,0 0 0,-1 0 0,-1 1 0,-17-12 0,-2 1 0,-57-28 0,73 42 0,-1 1 0,0 0 0,-19-3 0,23 6 0,-1 0 0,1-2 0,0 1 0,-1-1 0,1-1 0,1 0 0,-12-7 0,9 4 0,0 0 0,0 1 0,-1 0 0,0 1 0,0 1 0,-26-6 0,-91-9 0,125 19 0,-68-12 0,51 8 0,0 1 0,-30-2 0,16 5 0,-211 4 0,233 0 0,0 0 0,0 1 0,1 1 0,0 0 0,0 1 0,-16 9 0,12-6 0,-1-1 0,-27 9 0,14-9 0,0 2 0,0 1 0,1 1 0,-37 21 0,32-15 0,-1-1 0,-1-2 0,-1-1 0,0-2 0,-1-2 0,-49 6 0,-112 7 0,1 6 0,150-23 0,0-2 0,-96-4 0,-36 1 0,104 13 0,58-9 0,0-1 0,-33 2 0,27-6 0,10 0 0,0 0 0,0 1 0,-1 0 0,1 1 0,0 1 0,0 1 0,1 0 0,-27 11 0,41-15 0,1 0 0,-1 0 0,1 1 0,-1-1 0,1 0 0,-1 0 0,1 1 0,-1-1 0,1 1 0,-1-1 0,1 0 0,0 1 0,-1-1 0,1 1 0,0-1 0,-1 1 0,1-1 0,0 1 0,-1-1 0,1 1 0,0-1 0,0 1 0,0 0 0,0-1 0,-1 1 0,1-1 0,0 1 0,0-1 0,0 1 0,0 0 0,0-1 0,0 1 0,1-1 0,-1 1 0,0 0 0,0 0 0,20 18 0,32 8 0,-51-26 0,21 6 0,0-1 0,1 0 0,0-2 0,24 3 0,7 0 0,67 4 0,-87-10 0,-1 2 0,48 9 0,-45-6 0,1-1 0,-1-2 0,1-2 0,47-4 0,74 3 0,-81 14 0,-56-9 0,1-1 0,29 1 0,378-5 0,-388-3 0,1-2 0,-1-2 0,0-1 0,51-18 0,48-10 0,-119 31 0,0-1 0,24-11 0,-31 11 0,1 1 0,0 0 0,1 0 0,-1 2 0,25-3 0,202 5 0,-115 2 0,-125-1 0,-1 0 0,0 0 0,0 0 0,0 0 0,0 0 0,1 0 0,-1 0 0,0 0 0,0 0 0,0 1 0,0-1 0,0 0 0,0 1 0,1-1 0,-1 1 0,0-1 0,0 1 0,0 0 0,0-1 0,-1 1 0,1 0 0,1 1 0,-1-1 0,-1 0 0,0 0 0,0 0 0,0 0 0,0 0 0,0 0 0,0 0 0,-1 0 0,1 0 0,0 0 0,0 0 0,-1 0 0,1-1 0,-1 1 0,1 0 0,0 0 0,-1 0 0,0 0 0,1 0 0,-2 1 0,-50 48 0,37-38 0,-8 6 0,0-1 0,-1-1 0,-1-1 0,0-1 0,-1-2 0,-45 16 0,15-5 0,36-16 0,0-1 0,-1-1 0,0 0 0,-28 1 0,-26 6 0,48-7 0,11-2 0,-1 0 0,1 1 0,0 1 0,-17 8 0,33-13 0,-1 0 0,1 1 0,0-1 0,0 0 0,0 1 0,-1-1 0,1 0 0,0 0 0,0 1 0,0-1 0,0 1 0,0-1 0,-1 0 0,1 1 0,0-1 0,0 0 0,0 1 0,0-1 0,0 0 0,0 1 0,0-1 0,0 0 0,1 1 0,-1-1 0,0 0 0,0 1 0,0-1 0,0 0 0,0 1 0,0-1 0,1 0 0,-1 1 0,0-1 0,0 0 0,1 1 0,-1-1 0,0 0 0,0 0 0,1 1 0,-1-1 0,0 0 0,0 0 0,1 0 0,-1 0 0,0 1 0,1-1 0,-1 0 0,0 0 0,1 0 0,-1 0 0,1 0 0,-1 0 0,0 0 0,1 0 0,0 0 0,20 10 0,0-6 0,0 0 0,0-2 0,21 1 0,49 6 0,-16 2 0,1-4 0,1-3 0,97-7 0,-33 0 0,-90-2-1365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00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svg"/><Relationship Id="rId9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11" Type="http://schemas.openxmlformats.org/officeDocument/2006/relationships/customXml" Target="../ink/ink3.xml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image" Target="../media/image25.png"/><Relationship Id="rId4" Type="http://schemas.openxmlformats.org/officeDocument/2006/relationships/customXml" Target="../ink/ink6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.png"/><Relationship Id="rId4" Type="http://schemas.openxmlformats.org/officeDocument/2006/relationships/image" Target="../media/image28.svg"/><Relationship Id="rId9" Type="http://schemas.openxmlformats.org/officeDocument/2006/relationships/customXml" Target="../ink/ink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009186"/>
            <a:ext cx="6623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ХРОНИКА НАСТРОЕНИЙ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08690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98188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Инструмент для самонаблюдения и поддержки эмоционального благополучия</a:t>
            </a:r>
            <a:endParaRPr lang="en-US" sz="2200" dirty="0">
              <a:solidFill>
                <a:srgbClr val="B98188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7FAF32D9-912F-8248-E1E4-3DC3D0810D3F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7FAF32D9-912F-8248-E1E4-3DC3D0810D3F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ED4F3753-5C4E-D993-451A-3F6DAE4E4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16" y="817606"/>
            <a:ext cx="5816885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Цель проекта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63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Проект разработан как мощный инструмент для поддержки эмоционального благополучия через практику систематического самонаблюдения.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27346"/>
            <a:ext cx="4196358" cy="3318153"/>
          </a:xfrm>
          <a:prstGeom prst="roundRect">
            <a:avLst>
              <a:gd name="adj" fmla="val 6152"/>
            </a:avLst>
          </a:prstGeom>
          <a:solidFill>
            <a:srgbClr val="FFCCD1"/>
          </a:solidFill>
          <a:ln w="7620">
            <a:solidFill>
              <a:srgbClr val="FFC7CD"/>
            </a:solidFill>
            <a:prstDash val="solid"/>
          </a:ln>
          <a:effectLst>
            <a:outerShdw dist="20320" dir="2700000" algn="bl" rotWithShape="0">
              <a:srgbClr val="FFC7CD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028224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C7C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94882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669036"/>
            <a:ext cx="34411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Обнаружение паттернов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15945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Выявление устойчивых закономерностей (например, снижение настроения в определённые дни недели).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27346"/>
            <a:ext cx="4196358" cy="3318153"/>
          </a:xfrm>
          <a:prstGeom prst="roundRect">
            <a:avLst>
              <a:gd name="adj" fmla="val 6152"/>
            </a:avLst>
          </a:prstGeom>
          <a:solidFill>
            <a:srgbClr val="FFCCD1"/>
          </a:solidFill>
          <a:ln w="7620">
            <a:solidFill>
              <a:srgbClr val="FFC7CD"/>
            </a:solidFill>
            <a:prstDash val="solid"/>
          </a:ln>
          <a:effectLst>
            <a:outerShdw dist="20320" dir="2700000" algn="bl" rotWithShape="0">
              <a:srgbClr val="FFC7CD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451396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C7C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94882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669036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Структурированный анализ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51378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Превращение личных записей в наглядные, анализируемые данные.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527346"/>
            <a:ext cx="4196358" cy="3318153"/>
          </a:xfrm>
          <a:prstGeom prst="roundRect">
            <a:avLst>
              <a:gd name="adj" fmla="val 6152"/>
            </a:avLst>
          </a:prstGeom>
          <a:solidFill>
            <a:srgbClr val="FFCCD1"/>
          </a:solidFill>
          <a:ln w="7620">
            <a:solidFill>
              <a:srgbClr val="FFC7CD"/>
            </a:solidFill>
            <a:prstDash val="solid"/>
          </a:ln>
          <a:effectLst>
            <a:outerShdw dist="20320" dir="2700000" algn="bl" rotWithShape="0">
              <a:srgbClr val="FFC7CD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9874568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C7C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94882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Поиск корреляций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15945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Оценка зависимости самочувствия от продолжительности сна и влияния внешних событий.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C55A819C-03C0-A13F-BFF0-159F4C85D7DB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C55A819C-03C0-A13F-BFF0-159F4C85D7DB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3772"/>
            <a:ext cx="1112960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Ключевые функциональные возможности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758077"/>
            <a:ext cx="861893" cy="1292900"/>
          </a:xfrm>
          <a:prstGeom prst="roundRect">
            <a:avLst>
              <a:gd name="adj" fmla="val 36002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109" y="2242899"/>
            <a:ext cx="323136" cy="323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1067" y="1973461"/>
            <a:ext cx="417790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Регистрация и Персонализация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871067" y="2439233"/>
            <a:ext cx="1196554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Начальная настройка профиля: ввод имени, возраста и пола для персонализированного опыта.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93790" y="3266361"/>
            <a:ext cx="861893" cy="1292900"/>
          </a:xfrm>
          <a:prstGeom prst="roundRect">
            <a:avLst>
              <a:gd name="adj" fmla="val 36002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3109" y="3751183"/>
            <a:ext cx="323136" cy="323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1067" y="3481745"/>
            <a:ext cx="400692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Ежедневный ввод Настроения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871067" y="3947517"/>
            <a:ext cx="1196554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Оценка состояния по пятибалльной шкале, фиксация продолжительности сна и добавление текстовых заметок.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93790" y="4774644"/>
            <a:ext cx="861893" cy="1292900"/>
          </a:xfrm>
          <a:prstGeom prst="roundRect">
            <a:avLst>
              <a:gd name="adj" fmla="val 36002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3109" y="5259467"/>
            <a:ext cx="323136" cy="3231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1067" y="4990028"/>
            <a:ext cx="453247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Хранение и Управление Историей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871067" y="5455801"/>
            <a:ext cx="1196554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Локальное сохранение всех записей с возможностью хронологического просмотра и точечного удаления.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93790" y="6282928"/>
            <a:ext cx="861893" cy="1292900"/>
          </a:xfrm>
          <a:prstGeom prst="roundRect">
            <a:avLst>
              <a:gd name="adj" fmla="val 36002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3109" y="6767751"/>
            <a:ext cx="323136" cy="3231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71067" y="6498312"/>
            <a:ext cx="300906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Визуальная Аналитика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871067" y="6964085"/>
            <a:ext cx="1196554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Генерация отчётов для глубокого понимания динамики своего состояния.</a:t>
            </a:r>
            <a:endParaRPr lang="en-US" sz="16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98137DF0-E9E3-14A2-9F06-F55B683BF9F2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98137DF0-E9E3-14A2-9F06-F55B683BF9F2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9037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Информативные визуальные отчёты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814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Блок аналитики преобразует сырые данные в полезные графики, помогая выявить скрытые взаимосвязи.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99497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599497"/>
            <a:ext cx="121920" cy="28109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385679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Распределение настроения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4701540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Анализ оценок настроения в разрезе дней недели (например, "синдром понедельника").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599497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599497"/>
            <a:ext cx="121920" cy="28109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65696" y="3856792"/>
            <a:ext cx="3095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Динамика во времени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565696" y="434721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Просмотр общего тренда настроения за выбранный период (неделя, месяц).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3599497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599497"/>
            <a:ext cx="121920" cy="28109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88868" y="385679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Корреляция "Сон-Настроение"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988868" y="4701540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Построение линейного тренда для оценки связи между качеством сна и эмоциональным состоянием.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E9D6CE77-2555-974F-D2CF-7DB528391119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E9D6CE77-2555-974F-D2CF-7DB528391119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68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Исполь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692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Проект «Хроника настроений» разработан с использованием современного, производительного и надёжного стека технологий Android-разработки.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947" y="3396139"/>
            <a:ext cx="1134189" cy="9072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588" y="3396139"/>
            <a:ext cx="1663303" cy="9072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342" y="3396139"/>
            <a:ext cx="1134189" cy="90725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5983" y="3396139"/>
            <a:ext cx="1474470" cy="90725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93790" y="49313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Язык и UI</a:t>
            </a:r>
            <a:endParaRPr lang="en-US" sz="2200" dirty="0"/>
          </a:p>
        </p:txBody>
      </p:sp>
      <p:sp>
        <p:nvSpPr>
          <p:cNvPr id="9" name="Text 3"/>
          <p:cNvSpPr/>
          <p:nvPr/>
        </p:nvSpPr>
        <p:spPr>
          <a:xfrm>
            <a:off x="793790" y="551247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Язык программирования: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Kotlin – современный и безопасный.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793790" y="631757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Пользовательский интерфейс: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Jetpack Compose – декларативный подход к построению UI.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7599521" y="4931331"/>
            <a:ext cx="39600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Архитектурные Компоненты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599521" y="551247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 Database: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Для эффективного и локального хранения данных.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599521" y="631757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Navigation Compose: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Упрощённое управление навигацией внутри одноактивностной модели.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1763B90B-E2EB-AF6C-65F9-3D8E13D19A75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1763B90B-E2EB-AF6C-65F9-3D8E13D19A75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226"/>
            <a:ext cx="807029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Архитектура: Чистая и Реактивная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55207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Приложение использует многослойную архитектуру, основанную на принципах разделения ответственности и минимальной связанности (Separation of Concerns).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007" y="2488763"/>
            <a:ext cx="11086386" cy="50736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92819" y="3131813"/>
            <a:ext cx="2452412" cy="30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892819" y="3525562"/>
            <a:ext cx="2703103" cy="490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 , Flow для реактивных обновлений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66900" y="4799453"/>
            <a:ext cx="2452412" cy="30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Domain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034201" y="5193202"/>
            <a:ext cx="2485111" cy="49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Бизнес-сущности и утилиты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92819" y="5660522"/>
            <a:ext cx="2452412" cy="30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892819" y="6054271"/>
            <a:ext cx="2703103" cy="490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Compose UI с подъёмом состояния</a:t>
            </a:r>
            <a:endParaRPr lang="en-US" sz="10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B3774AC2-4F68-4F0E-0271-FD3005FAD6F4}"/>
                  </a:ext>
                </a:extLst>
              </p14:cNvPr>
              <p14:cNvContentPartPr/>
              <p14:nvPr/>
            </p14:nvContentPartPr>
            <p14:xfrm>
              <a:off x="13183588" y="7191384"/>
              <a:ext cx="29160" cy="4320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B3774AC2-4F68-4F0E-0271-FD3005FAD6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20588" y="7128744"/>
                <a:ext cx="1548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9B40AA06-3C89-3EBC-FD54-9037C0206BE5}"/>
                  </a:ext>
                </a:extLst>
              </p14:cNvPr>
              <p14:cNvContentPartPr/>
              <p14:nvPr/>
            </p14:nvContentPartPr>
            <p14:xfrm>
              <a:off x="11208988" y="2506704"/>
              <a:ext cx="360" cy="36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9B40AA06-3C89-3EBC-FD54-9037C0206B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46348" y="244370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3C2E2008-CF49-AB6E-7DD3-247DCEBA3CBC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3C2E2008-CF49-AB6E-7DD3-247DCEBA3CBC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8932"/>
            <a:ext cx="66121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Пример использования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13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Рассмотрим пример студента, фиксировавшего своё состояние в течение 10 дней, чтобы справиться с эмоциональным выгоранием.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Среднее настроение за период составило </a:t>
            </a: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2.4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(из 5).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Наиболее низкие оценки пришлись на </a:t>
            </a: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среду и четверг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особенно после 18:00.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Обнаружена сильная положительная корреляция: </a:t>
            </a:r>
            <a:r>
              <a:rPr lang="en-US" sz="17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+0.78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между продолжительностью сна и уровнем настроения.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747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 основе этих инсайтов пользователь внёс изменения: перенёс сложные задачи на утро понедельника, установил лимит на время отбоя (до 23:00) и добавил регулярные перерывы.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EE356BA-C38E-ED23-14ED-202D4950BDF4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EE356BA-C38E-ED23-14ED-202D4950BDF4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11872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Результат: принятие осознанных решений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471976"/>
            <a:ext cx="1270265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Приложение — не пассивный журнал, а активный инструмент для принятия </a:t>
            </a:r>
            <a:r>
              <a:rPr lang="en-US" sz="2650" dirty="0">
                <a:solidFill>
                  <a:srgbClr val="FF2E45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осознанных решений</a:t>
            </a:r>
            <a:r>
              <a:rPr lang="en-US" sz="26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о своём образе жизни.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131814"/>
            <a:ext cx="30480" cy="1530906"/>
          </a:xfrm>
          <a:prstGeom prst="rect">
            <a:avLst/>
          </a:prstGeom>
          <a:solidFill>
            <a:srgbClr val="FFC7C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93790" y="403121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FC7CD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2.4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197412" y="5063014"/>
            <a:ext cx="33513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Среднее настроение ДО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55343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Начальный уровень эмоционального состояния.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35893" y="403121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FC7CD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+0.78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287566" y="5063014"/>
            <a:ext cx="40552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Корреляция Сон/Настроение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893" y="555343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Подтверждённая сильная связь между сном и самочувствием.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403121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FC7CD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3.9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9807773" y="5063014"/>
            <a:ext cx="38990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Среднее настроение ПОСЛЕ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7995" y="5553432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Улучшение состояния через две недели после коррекции распорядка.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8972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Проанализировав свои данные, пользователь смог повысить свой средний уровень настроения с 2.4 до 3.9.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D43375ED-229C-2FBB-3DFB-362EF10EA7E6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D43375ED-229C-2FBB-3DFB-362EF10EA7E6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1877615" y="4146714"/>
            <a:ext cx="4349948" cy="1300639"/>
          </a:xfrm>
          <a:prstGeom prst="roundRect">
            <a:avLst>
              <a:gd name="adj" fmla="val 1562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790218" y="623173"/>
            <a:ext cx="10363557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Заключение и перспективы развития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0218" y="1780222"/>
            <a:ext cx="13049964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«Хроника настроений» — это полноценное мобильное приложение, решающее социально значимую задачу поддержки психоэмоционального здоровья.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2965133" y="2756416"/>
            <a:ext cx="2174915" cy="1300639"/>
          </a:xfrm>
          <a:prstGeom prst="roundRect">
            <a:avLst>
              <a:gd name="adj" fmla="val 1562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3879" y="3247906"/>
            <a:ext cx="317421" cy="3174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5790" y="2982158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Экспорт данных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65790" y="3470196"/>
            <a:ext cx="7724418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Добавление экспорта в форматы CSV и PDF для обмена с терапевтом.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078004" y="4041815"/>
            <a:ext cx="10649307" cy="15240"/>
          </a:xfrm>
          <a:prstGeom prst="roundRect">
            <a:avLst>
              <a:gd name="adj" fmla="val 1333362"/>
            </a:avLst>
          </a:prstGeom>
          <a:solidFill>
            <a:srgbClr val="E5B2B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3939" y="4681001"/>
            <a:ext cx="317421" cy="317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3307" y="4395668"/>
            <a:ext cx="40464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Интеграция с Health Connect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53307" y="4883706"/>
            <a:ext cx="6885027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Автоматический сбор данных о сне и физической активности.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5253037" y="5455325"/>
            <a:ext cx="8474273" cy="15240"/>
          </a:xfrm>
          <a:prstGeom prst="roundRect">
            <a:avLst>
              <a:gd name="adj" fmla="val 1333362"/>
            </a:avLst>
          </a:prstGeom>
          <a:solidFill>
            <a:srgbClr val="E5B2B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790218" y="5583436"/>
            <a:ext cx="6524982" cy="2022872"/>
          </a:xfrm>
          <a:prstGeom prst="roundRect">
            <a:avLst>
              <a:gd name="adj" fmla="val 1004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3939" y="6436043"/>
            <a:ext cx="317421" cy="3174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0942" y="5809178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Прогнозирование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540942" y="6297216"/>
            <a:ext cx="6073497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Внедрение простых моделей для оценки вероятности снижения настроения на основе исторических данных.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B6763DE5-D1FC-936B-179C-ECD4CE74F7E9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B6763DE5-D1FC-936B-179C-ECD4CE74F7E9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333" y="1942981"/>
            <a:ext cx="12357616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Спасибо за внимание!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FF29D014-839F-C00F-F110-3F5F0916CF53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12712348" y="7704716"/>
              <a:ext cx="1816200" cy="37188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FF29D014-839F-C00F-F110-3F5F0916CF53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9708" y="7641716"/>
                <a:ext cx="1941840" cy="49752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823E461-8061-9D6A-5BA4-3FCB64A39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1" t="17941" r="9851" b="6608"/>
          <a:stretch>
            <a:fillRect/>
          </a:stretch>
        </p:blipFill>
        <p:spPr bwMode="auto">
          <a:xfrm>
            <a:off x="5476126" y="3927027"/>
            <a:ext cx="3102795" cy="322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535</Words>
  <Application>Microsoft Office PowerPoint</Application>
  <PresentationFormat>Произвольный</PresentationFormat>
  <Paragraphs>80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DM Sans Semi Bold</vt:lpstr>
      <vt:lpstr>Arial</vt:lpstr>
      <vt:lpstr>DM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Daria Ustinova</dc:creator>
  <cp:lastModifiedBy>Daria Ustinova</cp:lastModifiedBy>
  <cp:revision>2</cp:revision>
  <dcterms:created xsi:type="dcterms:W3CDTF">2025-12-23T21:33:34Z</dcterms:created>
  <dcterms:modified xsi:type="dcterms:W3CDTF">2025-12-23T22:39:30Z</dcterms:modified>
</cp:coreProperties>
</file>